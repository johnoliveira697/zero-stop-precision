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DEFF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DEFF1"/>
                </a:solidFill>
                <a:latin typeface="Arial"/>
              </a:rPr>
              <a:t>Elevação (MRAD) × distância (m)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Elevação real (solver)</c:v>
                </c:pt>
              </c:strCache>
            </c:strRef>
          </c:tx>
          <c:spPr>
            <a:solidFill>
              <a:srgbClr val="D9A441"/>
            </a:solidFill>
            <a:ln w="31750" cap="flat">
              <a:solidFill>
                <a:srgbClr val="D9A4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A441"/>
              </a:solidFill>
              <a:ln w="9525" cap="flat">
                <a:solidFill>
                  <a:srgbClr val="D9A4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200</c:v>
                  </c:pt>
                  <c:pt idx="1">
                    <c:v>250</c:v>
                  </c:pt>
                  <c:pt idx="2">
                    <c:v>300</c:v>
                  </c:pt>
                  <c:pt idx="3">
                    <c:v>350</c:v>
                  </c:pt>
                  <c:pt idx="4">
                    <c:v>400</c:v>
                  </c:pt>
                  <c:pt idx="5">
                    <c:v>450</c:v>
                  </c:pt>
                  <c:pt idx="6">
                    <c:v>500</c:v>
                  </c:pt>
                  <c:pt idx="7">
                    <c:v>550</c:v>
                  </c:pt>
                  <c:pt idx="8">
                    <c:v>600</c:v>
                  </c:pt>
                  <c:pt idx="9">
                    <c:v>650</c:v>
                  </c:pt>
                  <c:pt idx="10">
                    <c:v>700</c:v>
                  </c:pt>
                  <c:pt idx="11">
                    <c:v>750</c:v>
                  </c:pt>
                  <c:pt idx="12">
                    <c:v>800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0.81</c:v>
                </c:pt>
                <c:pt idx="1">
                  <c:v>1.25</c:v>
                </c:pt>
                <c:pt idx="2">
                  <c:v>1.7</c:v>
                </c:pt>
                <c:pt idx="3">
                  <c:v>2.17</c:v>
                </c:pt>
                <c:pt idx="4">
                  <c:v>2.66</c:v>
                </c:pt>
                <c:pt idx="5">
                  <c:v>3.17</c:v>
                </c:pt>
                <c:pt idx="6">
                  <c:v>3.71</c:v>
                </c:pt>
                <c:pt idx="7">
                  <c:v>4.27</c:v>
                </c:pt>
                <c:pt idx="8">
                  <c:v>4.86</c:v>
                </c:pt>
                <c:pt idx="9">
                  <c:v>5.47</c:v>
                </c:pt>
                <c:pt idx="10">
                  <c:v>6.12</c:v>
                </c:pt>
                <c:pt idx="11">
                  <c:v>6.79</c:v>
                </c:pt>
                <c:pt idx="12">
                  <c:v>7.5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Reta do Speed Drop (D/100 − 1,2)</c:v>
                </c:pt>
              </c:strCache>
            </c:strRef>
          </c:tx>
          <c:spPr>
            <a:solidFill>
              <a:srgbClr val="8FB3C9"/>
            </a:solidFill>
            <a:ln w="31750" cap="flat">
              <a:solidFill>
                <a:srgbClr val="8FB3C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FB3C9"/>
              </a:solidFill>
              <a:ln w="9525" cap="flat">
                <a:solidFill>
                  <a:srgbClr val="8FB3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200</c:v>
                  </c:pt>
                  <c:pt idx="1">
                    <c:v>250</c:v>
                  </c:pt>
                  <c:pt idx="2">
                    <c:v>300</c:v>
                  </c:pt>
                  <c:pt idx="3">
                    <c:v>350</c:v>
                  </c:pt>
                  <c:pt idx="4">
                    <c:v>400</c:v>
                  </c:pt>
                  <c:pt idx="5">
                    <c:v>450</c:v>
                  </c:pt>
                  <c:pt idx="6">
                    <c:v>500</c:v>
                  </c:pt>
                  <c:pt idx="7">
                    <c:v>550</c:v>
                  </c:pt>
                  <c:pt idx="8">
                    <c:v>600</c:v>
                  </c:pt>
                  <c:pt idx="9">
                    <c:v>650</c:v>
                  </c:pt>
                  <c:pt idx="10">
                    <c:v>700</c:v>
                  </c:pt>
                  <c:pt idx="11">
                    <c:v>750</c:v>
                  </c:pt>
                  <c:pt idx="12">
                    <c:v>800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0.8</c:v>
                </c:pt>
                <c:pt idx="1">
                  <c:v>1.3</c:v>
                </c:pt>
                <c:pt idx="2">
                  <c:v>1.8</c:v>
                </c:pt>
                <c:pt idx="3">
                  <c:v>2.3</c:v>
                </c:pt>
                <c:pt idx="4">
                  <c:v>2.8</c:v>
                </c:pt>
                <c:pt idx="5">
                  <c:v>3.3</c:v>
                </c:pt>
                <c:pt idx="6">
                  <c:v>3.8</c:v>
                </c:pt>
                <c:pt idx="7">
                  <c:v>4.3</c:v>
                </c:pt>
                <c:pt idx="8">
                  <c:v>4.8</c:v>
                </c:pt>
                <c:pt idx="9">
                  <c:v>5.3</c:v>
                </c:pt>
                <c:pt idx="10">
                  <c:v>5.8</c:v>
                </c:pt>
                <c:pt idx="11">
                  <c:v>6.3</c:v>
                </c:pt>
                <c:pt idx="12">
                  <c:v>6.8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3A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40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3A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F2327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EDEFF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DEFF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DEFF1"/>
                </a:solidFill>
                <a:latin typeface="Arial"/>
              </a:rPr>
              <a:t>Fator calculado em cada distância (m)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Fator local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9AA3A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200</c:v>
                  </c:pt>
                  <c:pt idx="1">
                    <c:v>250</c:v>
                  </c:pt>
                  <c:pt idx="2">
                    <c:v>300</c:v>
                  </c:pt>
                  <c:pt idx="3">
                    <c:v>350</c:v>
                  </c:pt>
                  <c:pt idx="4">
                    <c:v>400</c:v>
                  </c:pt>
                  <c:pt idx="5">
                    <c:v>450</c:v>
                  </c:pt>
                  <c:pt idx="6">
                    <c:v>500</c:v>
                  </c:pt>
                  <c:pt idx="7">
                    <c:v>550</c:v>
                  </c:pt>
                  <c:pt idx="8">
                    <c:v>600</c:v>
                  </c:pt>
                  <c:pt idx="9">
                    <c:v>650</c:v>
                  </c:pt>
                  <c:pt idx="10">
                    <c:v>700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1.19</c:v>
                </c:pt>
                <c:pt idx="1">
                  <c:v>1.25</c:v>
                </c:pt>
                <c:pt idx="2">
                  <c:v>1.3</c:v>
                </c:pt>
                <c:pt idx="3">
                  <c:v>1.33</c:v>
                </c:pt>
                <c:pt idx="4">
                  <c:v>1.34</c:v>
                </c:pt>
                <c:pt idx="5">
                  <c:v>1.33</c:v>
                </c:pt>
                <c:pt idx="6">
                  <c:v>1.29</c:v>
                </c:pt>
                <c:pt idx="7">
                  <c:v>1.23</c:v>
                </c:pt>
                <c:pt idx="8">
                  <c:v>1.14</c:v>
                </c:pt>
                <c:pt idx="9">
                  <c:v>1.03</c:v>
                </c:pt>
                <c:pt idx="10">
                  <c:v>0.88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9AA3A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3A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6"/>
        </c:scaling>
        <c:delete val="0"/>
        <c:axPos val="l"/>
        <c:majorGridlines>
          <c:spPr>
            <a:ln w="6350" cap="flat">
              <a:solidFill>
                <a:srgbClr val="3A40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3A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F232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pergunte quanto tempo cada um leva para achar o dado de tiro de um alvo a 480 m. A proposta do Speed Drop é reduzir isso a uma conta de cabeça de 2 segundos, memorizando UM número. Método popularizado por Ted Hoeger (Jack Master) na comunidade Sniper's Hide / Accuracy Dynamics.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Speed Drop não substitui o solver balístico — ele é derivado dele. É uma ferramenta de campo para a faixa de distância onde a maioria dos disparos acontece. O uso mais frequente na prática nem é calcular o dado: é CONFERIR se a torre está coerente com a distância anunciada.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coração do método. A trajetória é uma curva, mas todo arco tem trechos que uma reta aproxima muito bem. No gráfico, a linha azul (reta) praticamente cobre a dourada (solver) entre ~200 e ~600 m. Fora desse trecho as linhas se separam — é ali que o método deixa de valer.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Treine a mecânica: distância em metros, corta dois zeros, subtrai o fator. 480 m vira 4,8; menos 1,2 dá 3,6. Só funciona em MRAD porque o mil 'conversa' com o sistema métrico: 1 MRAD subentende 1/1000 da distância — é isso que faz D/100 aparecer naturalmente na fórmula.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mostra o 'platô': entre ~250 e ~550 m o fator fica praticamente parado em 1,3. É esse platô que a gente memoriza. Antes dele o projétil ainda está muito rápido (a curva sobe); depois dele a perda de velocidade acelera a queda (a curva despenca).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Conceito-chave: o erro é uma ESCOLHA de projeto, não um acidente. Você decide quanto erro tolera (tamanho do alvo, propósito) e isso define o fator e a janela. Para placa de PRS de 2 MOA, 0,15 MRAD é aceitável; para variação zero, use o fator primário e aceite a janela curta.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 o passo 1: o fator herda a qualidade do dope de origem. Se o solver não estiver validado com impacto real (true-up), o fator carrega o mesmo viés. O ideal é derivar de dope confirmado em pista.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Percorra a tabela com o público: a coluna do fator é a única novidade em relação ao dope normal. Mostre que memorizar '1,2' substitui memorizar cinco linhas de tabela dentro da janela 200–600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nome vem da correlação: trajetórias mais rápidas/planas 'descontam' mais da reta D/100 (fator maior) e mantêm a linearidade por mais tempo (janela maior). O .308 com 175 gr é mais curvo: fator menor e janela mais curta. Cada cano, lote e projétil muda o número — nunca copie fator de outro atirador.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o público resolver os três exemplos em voz alta. A fluência vem rápido: em 10 minutos de treino a seco a conta sai em ~2 segundos. Uso típico em prova: locutor anuncia a distância, você confere a torre sem olhar o armband.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modo preferido de muita gente em estágio com relógio: zero aritmética, só movimento físico da torre. Custa meio segundo a mais e elimina erro de conta mental.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 offset de −1,2 discado, segurar 4,8 no retículo é o dado de 480 m: a leitura do telêmetro vira direto o holdover. Para alvos mais próximos que a janela, use referências fixas (ex.: ~0,5 MRAD para 200 m, ~1,0 para 300 m) — confira no seu dope.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zero stop bem configurado ajuda a não se perder com a torre reindexada. Documente o offset no rifle (etiqueta) — num dia de treino com outra pessoa atirando na sua arma, a torre escorregada pode confundir.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um dos pontos mais contraintuitivos e mais úteis: o método é deliberadamente 'grosso' o bastante para o ambiente caber dentro do erro aceito. Exceção: mudanças extremas de densidade (grandes altitudes, calor/frio extremos) e, claro, o VENTO — que o Speed Drop não resolve; vento é outro problema, com outras ferramentas.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item das unidades merece ênfase dobrada no Brasil: quase todo material original do método está em jardas. Quem estudar pelas fontes americanas vai ver fatores ~2,5 — não é contradição, é a unidade da distância que muda o número. Derive tudo em metros e seja consistente.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Sugira registrar os desvios verticais num caderno de dope: se o método erra sistematicamente para o mesmo lado, o fator precisa de ajuste fino de 0,1 — ou o dope de origem está com viés (velocidade real diferente da cronografada, por exemplo).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voltando ao início: quanto tempo você levava para achar o dado de 480 m? Agora: 4,8 menos 1,2, 3,6 — dois segundos. Convide para a leitura do material de apoio, que aprofunda a derivação e traz exercícios resolvidos.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417320"/>
            <a:ext cx="3108960" cy="3108960"/>
          </a:xfrm>
          <a:prstGeom prst="ellipse">
            <a:avLst/>
          </a:prstGeom>
          <a:ln w="19050">
            <a:solidFill>
              <a:srgbClr val="3137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0" y="2103120"/>
            <a:ext cx="1737360" cy="1737360"/>
          </a:xfrm>
          <a:prstGeom prst="ellipse">
            <a:avLst/>
          </a:prstGeom>
          <a:ln w="12700">
            <a:solidFill>
              <a:srgbClr val="3137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1097280"/>
            <a:ext cx="0" cy="374904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0" y="2971800"/>
            <a:ext cx="3749040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93224" y="1874520"/>
            <a:ext cx="164592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2889504"/>
            <a:ext cx="0" cy="164592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93224" y="2240280"/>
            <a:ext cx="164592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0" y="2889504"/>
            <a:ext cx="0" cy="164592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93224" y="2606040"/>
            <a:ext cx="164592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0" y="2889504"/>
            <a:ext cx="0" cy="164592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93224" y="3337560"/>
            <a:ext cx="164592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0" y="2889504"/>
            <a:ext cx="0" cy="164592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93224" y="3703320"/>
            <a:ext cx="164592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2889504"/>
            <a:ext cx="0" cy="164592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93224" y="4069080"/>
            <a:ext cx="164592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2889504"/>
            <a:ext cx="0" cy="164592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STOP PRECISION · BALÍSTICA APLICADA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192024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D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Drop</a:t>
            </a:r>
            <a:endParaRPr lang="en-US" sz="6600" dirty="0"/>
          </a:p>
        </p:txBody>
      </p:sp>
      <p:sp>
        <p:nvSpPr>
          <p:cNvPr id="20" name="Text 18"/>
          <p:cNvSpPr/>
          <p:nvPr/>
        </p:nvSpPr>
        <p:spPr>
          <a:xfrm>
            <a:off x="658368" y="306324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de elevação sem tabela: um número na cabeça,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cartão de dope para a memória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58368" y="5394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Público: </a:t>
            </a:r>
            <a:pPr indent="0" marL="0">
              <a:buNone/>
            </a:pPr>
            <a:r>
              <a:rPr lang="en-US" sz="140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atiradores intermediários e avançados    </a:t>
            </a:r>
            <a:pPr indent="0" marL="0">
              <a:buNone/>
            </a:pPr>
            <a:r>
              <a:rPr lang="en-US" sz="14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Unidades: </a:t>
            </a:r>
            <a:pPr indent="0" marL="0">
              <a:buNone/>
            </a:pPr>
            <a:r>
              <a:rPr lang="en-US" sz="140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metros + MRAD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problema: consultar tabela custa tempo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84448" cy="3291840"/>
          </a:xfrm>
          <a:prstGeom prst="roundRect">
            <a:avLst>
              <a:gd name="adj" fmla="val 2222"/>
            </a:avLst>
          </a:prstGeom>
          <a:solidFill>
            <a:srgbClr val="282D3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B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Cartão de dope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30358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Preciso, mas exige tirar os olhos do alvo, ler, memorizar e discar. Sob estresse ou no relógio de uma prova, cada consulta custa segundos.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70832" y="1828800"/>
            <a:ext cx="3584448" cy="3291840"/>
          </a:xfrm>
          <a:prstGeom prst="roundRect">
            <a:avLst>
              <a:gd name="adj" fmla="val 2222"/>
            </a:avLst>
          </a:prstGeom>
          <a:solidFill>
            <a:srgbClr val="282D33"/>
          </a:solidFill>
          <a:ln/>
        </p:spPr>
      </p:sp>
      <p:sp>
        <p:nvSpPr>
          <p:cNvPr id="8" name="Text 6"/>
          <p:cNvSpPr/>
          <p:nvPr/>
        </p:nvSpPr>
        <p:spPr>
          <a:xfrm>
            <a:off x="4645152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B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Solver balístico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45152" y="2697480"/>
            <a:ext cx="30358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Kestrel ou aplicativo dão a solução completa — mas dependem de bateria, tempo de operação e de você largar a arma.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193024" y="1828800"/>
            <a:ext cx="3584448" cy="3291840"/>
          </a:xfrm>
          <a:prstGeom prst="roundRect">
            <a:avLst>
              <a:gd name="adj" fmla="val 2222"/>
            </a:avLst>
          </a:prstGeom>
          <a:solidFill>
            <a:srgbClr val="31373E"/>
          </a:solidFill>
          <a:ln/>
        </p:spPr>
      </p:sp>
      <p:sp>
        <p:nvSpPr>
          <p:cNvPr id="11" name="Text 9"/>
          <p:cNvSpPr/>
          <p:nvPr/>
        </p:nvSpPr>
        <p:spPr>
          <a:xfrm>
            <a:off x="8467344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Drop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467344" y="2697480"/>
            <a:ext cx="30358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número memorizado transforma a distância do alvo diretamente em elevação, em MRAD, de cabeça.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ele brilha:  </a:t>
            </a:r>
            <a:pPr indent="0" marL="0">
              <a:buNone/>
            </a:pPr>
            <a:r>
              <a:rPr lang="en-US" sz="15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PRS/estágios no relógio, caça a média distância, conferência rápida ("sanity check") da torre antes do disparo.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STOP PRECISION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CENTRAL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 um trecho quase linear na trajetória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parte do voo do projétil, cada 100 m a mais de distância pedem ≈ 1 MRAD a mais de elevação. Nesse trecho, a curva balística se comporta como uma reta — e reta se descreve com um único número.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154680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282D3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651760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 MRAD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867912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282D33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9136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51760" y="39136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 MRAD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92040" y="39136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B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+ 1,2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581144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282D33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62686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51760" y="462686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 MRAD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92040" y="46268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B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+ 1,2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4406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Creedmoor 140 ELD-M · 823 m/s · zero 100 m (exemplo simulado)</a:t>
            </a:r>
            <a:endParaRPr lang="en-US" sz="11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720840" y="1600200"/>
          <a:ext cx="49377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STOP PRECISION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FÓRMULA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Distância vira elevação com uma subtração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80160" y="1737360"/>
            <a:ext cx="9601200" cy="1737360"/>
          </a:xfrm>
          <a:prstGeom prst="roundRect">
            <a:avLst>
              <a:gd name="adj" fmla="val 5263"/>
            </a:avLst>
          </a:prstGeom>
          <a:solidFill>
            <a:srgbClr val="31373E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21488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ED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Elevação (MRAD)  =  </a:t>
            </a:r>
            <a:pPr algn="ctr" indent="0" marL="0">
              <a:buNone/>
            </a:pPr>
            <a:r>
              <a:rPr lang="en-US" sz="3400" b="1" dirty="0">
                <a:solidFill>
                  <a:srgbClr val="8FB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Distância (m) ÷ 100</a:t>
            </a:r>
            <a:pPr algn="ctr" indent="0" marL="0">
              <a:buNone/>
            </a:pPr>
            <a:r>
              <a:rPr lang="en-US" sz="3400" dirty="0">
                <a:solidFill>
                  <a:srgbClr val="ED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−  </a:t>
            </a:r>
            <a:pPr algn="ctr"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397764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282D33"/>
          </a:solidFill>
          <a:ln/>
        </p:spPr>
      </p:sp>
      <p:sp>
        <p:nvSpPr>
          <p:cNvPr id="7" name="Text 5"/>
          <p:cNvSpPr/>
          <p:nvPr/>
        </p:nvSpPr>
        <p:spPr>
          <a:xfrm>
            <a:off x="1033272" y="4206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a 480 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4617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4,8 − 1,2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33272" y="5074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 MRAD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4434840" y="397764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282D33"/>
          </a:solidFill>
          <a:ln/>
        </p:spPr>
      </p:sp>
      <p:sp>
        <p:nvSpPr>
          <p:cNvPr id="11" name="Text 9"/>
          <p:cNvSpPr/>
          <p:nvPr/>
        </p:nvSpPr>
        <p:spPr>
          <a:xfrm>
            <a:off x="4690872" y="4206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a 615 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90872" y="4617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6,15 − 1,2 (arred. 6,2)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90872" y="5074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 MRAD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8092440" y="397764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282D33"/>
          </a:solidFill>
          <a:ln/>
        </p:spPr>
      </p:sp>
      <p:sp>
        <p:nvSpPr>
          <p:cNvPr id="15" name="Text 13"/>
          <p:cNvSpPr/>
          <p:nvPr/>
        </p:nvSpPr>
        <p:spPr>
          <a:xfrm>
            <a:off x="8348472" y="4206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a 350 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48472" y="4617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3,5 − 1,2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48472" y="5074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 MRAD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 1,2 = exemplo do 6.5 CM em metros. Cada conjunto arma + munição tem o seu.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STOP PRECISION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vem o Fator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Invertendo a fórmula: o Fator é o quanto a sua trajetória "desconta" da reta D/100. Calcule-o em cada distância do seu dope e procure onde ele fica constante.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31373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88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Fator</a:t>
            </a:r>
            <a:pPr algn="ctr" indent="0" marL="0">
              <a:buNone/>
            </a:pPr>
            <a:r>
              <a:rPr lang="en-US" sz="1900" dirty="0">
                <a:solidFill>
                  <a:srgbClr val="ED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Distância ÷ 100  −  </a:t>
            </a:r>
            <a:pPr algn="ctr" indent="0" marL="0">
              <a:buNone/>
            </a:pPr>
            <a:r>
              <a:rPr lang="en-US" sz="1900" b="1" dirty="0">
                <a:solidFill>
                  <a:srgbClr val="8FB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Elevação do dope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3977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Distância    Dope       Conta          Fator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43434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 m     1,7 MRAD  3,0 − 1,7   1,3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81888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 m     2,7 MRAD  4,0 − 2,7   1,3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529437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m     3,7 MRAD  5,0 − 3,7   1,3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576986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600 m     4,9 MRAD  6,0 − 4,9   1,1</a:t>
            </a:r>
            <a:endParaRPr lang="en-US" sz="14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126480" y="233172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STOP PRECISION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Fator primário e orçamento de erro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fator primário é o maior valor do platô. Usar um fator menor que o primário insere erro proposital — e cada 0,1 de diferença compra mais alcance útil ao custo de 0,1 MRAD de erro.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1064240" cy="987552"/>
          </a:xfrm>
          <a:prstGeom prst="roundRect">
            <a:avLst>
              <a:gd name="adj" fmla="val 6481"/>
            </a:avLst>
          </a:prstGeom>
          <a:solidFill>
            <a:srgbClr val="282D3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7919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560320" y="263347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máx.
</a:t>
            </a:r>
            <a:pPr indent="0" marL="0">
              <a:buNone/>
            </a:pPr>
            <a:r>
              <a:rPr lang="en-US" sz="150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≈ 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0" y="263347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útil
</a:t>
            </a:r>
            <a:pPr indent="0" marL="0">
              <a:buNone/>
            </a:pPr>
            <a:r>
              <a:rPr lang="en-US" sz="150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300 – 500 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38160" y="263347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curta e cirúrgica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685032"/>
            <a:ext cx="11064240" cy="987552"/>
          </a:xfrm>
          <a:prstGeom prst="roundRect">
            <a:avLst>
              <a:gd name="adj" fmla="val 6481"/>
            </a:avLst>
          </a:prstGeom>
          <a:solidFill>
            <a:srgbClr val="31373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849624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60320" y="380390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máx.
</a:t>
            </a:r>
            <a:pPr indent="0" marL="0">
              <a:buNone/>
            </a:pPr>
            <a:r>
              <a:rPr lang="en-US" sz="150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0,15 MRAD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3803904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útil
</a:t>
            </a:r>
            <a:pPr indent="0" marL="0">
              <a:buNone/>
            </a:pPr>
            <a:r>
              <a:rPr lang="en-US" sz="150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200 – 600 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38160" y="3803904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equilíbrio (escolhido)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855464"/>
            <a:ext cx="11064240" cy="987552"/>
          </a:xfrm>
          <a:prstGeom prst="roundRect">
            <a:avLst>
              <a:gd name="adj" fmla="val 6481"/>
            </a:avLst>
          </a:prstGeom>
          <a:solidFill>
            <a:srgbClr val="282D3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20056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560320" y="497433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máx.
</a:t>
            </a:r>
            <a:pPr indent="0" marL="0">
              <a:buNone/>
            </a:pPr>
            <a:r>
              <a:rPr lang="en-US" sz="150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0,25 MRAD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4974336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útil
</a:t>
            </a:r>
            <a:pPr indent="0" marL="0">
              <a:buNone/>
            </a:pPr>
            <a:r>
              <a:rPr lang="en-US" sz="150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150 – 650 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38160" y="4974336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longa, erro maior nas bordas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do exemplo 6.5 CM em metros. Erro de 0,15 MRAD a 400 m = 6 cm no alvo.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STOP PRECISION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Encontrando o SEU fator em 6 passos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92808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909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" y="17830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Imprima seu dope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5568" y="2185416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balístico ou dado real de pista, de 100 a 800+ m, de 25 em 25 m ou 50 em 50 m.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892808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87909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30568" y="17830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o fator em cada linha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30568" y="2185416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 = distância ÷ 100 − elevação. Uma coluna a mais na planilha.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374136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604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15568" y="32644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 o fator primário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15568" y="3666744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maior valor da coluna. Anote também a distância central do platô.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3374136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3604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30568" y="32644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 erro tolerável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30568" y="3666744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 / 0,2 / 0,3 MRAD — em função do tamanho de alvo típico.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855464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84174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15568" y="474573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Subtraia o erro do primário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115568" y="514807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é o seu Speed Drop Factor de trabalho.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63640" y="4855464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484174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30568" y="474573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Delimite a janela útil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830568" y="514807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distâncias onde |fator local − fator escolhido| ≤ erro tolerado.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Kestrel 5700 Elite: o cálculo sai pronto ativando o modo Accuracy First.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STOP PRECISION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 Creedmoor · 140 ELD-M · 823 m/s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81051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 (m)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77440" y="181051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Dope (MRAD)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0" y="181051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5486400" cy="475488"/>
          </a:xfrm>
          <a:prstGeom prst="roundRect">
            <a:avLst>
              <a:gd name="adj" fmla="val 9615"/>
            </a:avLst>
          </a:prstGeom>
          <a:solidFill>
            <a:srgbClr val="282D3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774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377440" y="23774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97680" y="237744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916936"/>
            <a:ext cx="5486400" cy="475488"/>
          </a:xfrm>
          <a:prstGeom prst="roundRect">
            <a:avLst>
              <a:gd name="adj" fmla="val 9615"/>
            </a:avLst>
          </a:prstGeom>
          <a:solidFill>
            <a:srgbClr val="31373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443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377440" y="29443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97680" y="294436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532120" y="3072384"/>
            <a:ext cx="164592" cy="16459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483864"/>
            <a:ext cx="5486400" cy="475488"/>
          </a:xfrm>
          <a:prstGeom prst="roundRect">
            <a:avLst>
              <a:gd name="adj" fmla="val 9615"/>
            </a:avLst>
          </a:prstGeom>
          <a:solidFill>
            <a:srgbClr val="31373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511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377440" y="351129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97680" y="351129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532120" y="3639312"/>
            <a:ext cx="164592" cy="16459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050792"/>
            <a:ext cx="5486400" cy="475488"/>
          </a:xfrm>
          <a:prstGeom prst="roundRect">
            <a:avLst>
              <a:gd name="adj" fmla="val 9615"/>
            </a:avLst>
          </a:prstGeom>
          <a:solidFill>
            <a:srgbClr val="31373E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07822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377440" y="407822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297680" y="407822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532120" y="4206240"/>
            <a:ext cx="164592" cy="16459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617720"/>
            <a:ext cx="5486400" cy="475488"/>
          </a:xfrm>
          <a:prstGeom prst="roundRect">
            <a:avLst>
              <a:gd name="adj" fmla="val 9615"/>
            </a:avLst>
          </a:prstGeom>
          <a:solidFill>
            <a:srgbClr val="282D33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64515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377440" y="464515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297680" y="4645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48640" y="5184648"/>
            <a:ext cx="5486400" cy="475488"/>
          </a:xfrm>
          <a:prstGeom prst="roundRect">
            <a:avLst>
              <a:gd name="adj" fmla="val 9615"/>
            </a:avLst>
          </a:prstGeom>
          <a:solidFill>
            <a:srgbClr val="282D33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52120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377440" y="52120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297680" y="521208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583680" y="1828800"/>
            <a:ext cx="5029200" cy="3931920"/>
          </a:xfrm>
          <a:prstGeom prst="roundRect">
            <a:avLst>
              <a:gd name="adj" fmla="val 2326"/>
            </a:avLst>
          </a:prstGeom>
          <a:solidFill>
            <a:srgbClr val="282D33"/>
          </a:solidFill>
          <a:ln/>
        </p:spPr>
      </p:sp>
      <p:sp>
        <p:nvSpPr>
          <p:cNvPr id="35" name="Text 33"/>
          <p:cNvSpPr/>
          <p:nvPr/>
        </p:nvSpPr>
        <p:spPr>
          <a:xfrm>
            <a:off x="6949440" y="2103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FB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 de campo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6949440" y="26060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</a:t>
            </a:r>
            <a:endParaRPr lang="en-US" sz="6400" dirty="0"/>
          </a:p>
        </p:txBody>
      </p:sp>
      <p:sp>
        <p:nvSpPr>
          <p:cNvPr id="37" name="Text 35"/>
          <p:cNvSpPr/>
          <p:nvPr/>
        </p:nvSpPr>
        <p:spPr>
          <a:xfrm>
            <a:off x="6949440" y="374904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 primário 1,3, erro aceito de 0,1 → fator de trabalho 1,2.
</a:t>
            </a:r>
            <a:pPr indent="0" marL="0">
              <a:buNone/>
            </a:pPr>
            <a:r>
              <a:rPr lang="en-US" sz="150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útil ≈ 200 a 600 m, erro máximo ≈ 0,15 MRAD no meio da janela.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4864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Dope simulado (G7, ICAO, nível do mar) — valide com o seu dado real.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STOP PRECISION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"Speed"? Compare com o .308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282D3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299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 Creedmoor 140 ELD-M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inicial
</a:t>
            </a:r>
            <a:pPr indent="0" marL="0">
              <a:buNone/>
            </a:pPr>
            <a:r>
              <a:rPr lang="en-US" sz="170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823 m/s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66160" y="2606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 primário
</a:t>
            </a:r>
            <a:pPr indent="0" marL="0">
              <a:buNone/>
            </a:pPr>
            <a:r>
              <a:rPr lang="en-US" sz="170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0" y="2606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 de trabalho
</a:t>
            </a:r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0" y="2606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útil
</a:t>
            </a:r>
            <a:pPr indent="0" marL="0">
              <a:buNone/>
            </a:pPr>
            <a:r>
              <a:rPr lang="en-US" sz="170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200 – 600 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282D3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995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FB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.308 Win 175 SMK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4400" y="45720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inicial
</a:t>
            </a:r>
            <a:pPr indent="0" marL="0">
              <a:buNone/>
            </a:pPr>
            <a:r>
              <a:rPr lang="en-US" sz="170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792 m/s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4572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 primário
</a:t>
            </a:r>
            <a:pPr indent="0" marL="0">
              <a:buNone/>
            </a:pPr>
            <a:r>
              <a:rPr lang="en-US" sz="170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4572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 de trabalho
</a:t>
            </a:r>
            <a:pPr indent="0" marL="0">
              <a:buNone/>
            </a:pPr>
            <a:r>
              <a:rPr lang="en-US" sz="1700" b="1" dirty="0">
                <a:solidFill>
                  <a:srgbClr val="8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4572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útil
</a:t>
            </a:r>
            <a:pPr indent="0" marL="0">
              <a:buNone/>
            </a:pPr>
            <a:r>
              <a:rPr lang="en-US" sz="170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150 – 400 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veloz e aerodinâmico o conjunto, maior o fator e mais larga a janela. </a:t>
            </a:r>
            <a:pPr indent="0" marL="0">
              <a:buNone/>
            </a:pPr>
            <a:r>
              <a:rPr lang="en-US" sz="15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fator carrega a "velocidade" do sistema — daí o nome Speed Drop.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STOP PRECISION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 de cabeça pura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766560" cy="1097280"/>
          </a:xfrm>
          <a:prstGeom prst="roundRect">
            <a:avLst>
              <a:gd name="adj" fmla="val 6667"/>
            </a:avLst>
          </a:prstGeom>
          <a:solidFill>
            <a:srgbClr val="282D3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848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B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660 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514600" y="21305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6,6 − 1,2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94960" y="2057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5,4 MRAD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6766560" cy="1097280"/>
          </a:xfrm>
          <a:prstGeom prst="roundRect">
            <a:avLst>
              <a:gd name="adj" fmla="val 6667"/>
            </a:avLst>
          </a:prstGeom>
          <a:solidFill>
            <a:srgbClr val="282D3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1071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B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515 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514600" y="34564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5,15 ≈ 5,1 → 5,1 − 1,2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94960" y="3383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 MRAD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6766560" cy="1097280"/>
          </a:xfrm>
          <a:prstGeom prst="roundRect">
            <a:avLst>
              <a:gd name="adj" fmla="val 6667"/>
            </a:avLst>
          </a:prstGeom>
          <a:solidFill>
            <a:srgbClr val="282D3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7365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B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380 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14600" y="47823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3,8 − 1,2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4960" y="4709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 MRAD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7680960" y="1828800"/>
            <a:ext cx="3931920" cy="3977640"/>
          </a:xfrm>
          <a:prstGeom prst="roundRect">
            <a:avLst>
              <a:gd name="adj" fmla="val 2093"/>
            </a:avLst>
          </a:prstGeom>
          <a:solidFill>
            <a:srgbClr val="31373E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0" y="2103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B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Rotina mental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001000" y="260604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Meça ou receba a distância
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Corte dois zeros
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Subtraia o fator
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Disque (ou marque) o resultado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01000" y="47091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Arredonde a distância para o decimal mais próximo antes de subtrair — o erro disso é menor que o do próprio método.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STOP PRECISION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truque de discar e voltar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gosta de aritmética sob estresse? Deixe a torre fazer a conta: disque a distância como se fosse elevação e depois volte o fator.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651760" cy="2377440"/>
          </a:xfrm>
          <a:prstGeom prst="roundRect">
            <a:avLst>
              <a:gd name="adj" fmla="val 3462"/>
            </a:avLst>
          </a:prstGeom>
          <a:solidFill>
            <a:srgbClr val="282D33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743200"/>
            <a:ext cx="384048" cy="384048"/>
          </a:xfrm>
          <a:prstGeom prst="ellipse">
            <a:avLst/>
          </a:prstGeom>
          <a:solidFill>
            <a:srgbClr val="8FB3C9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72948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331012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a 720 m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04672" y="41148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"7,2"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63824" y="33832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10712" y="2468880"/>
            <a:ext cx="2651760" cy="2377440"/>
          </a:xfrm>
          <a:prstGeom prst="roundRect">
            <a:avLst>
              <a:gd name="adj" fmla="val 3462"/>
            </a:avLst>
          </a:prstGeom>
          <a:solidFill>
            <a:srgbClr val="282D33"/>
          </a:solidFill>
          <a:ln/>
        </p:spPr>
      </p:sp>
      <p:sp>
        <p:nvSpPr>
          <p:cNvPr id="12" name="Shape 10"/>
          <p:cNvSpPr/>
          <p:nvPr/>
        </p:nvSpPr>
        <p:spPr>
          <a:xfrm>
            <a:off x="3666744" y="2743200"/>
            <a:ext cx="384048" cy="384048"/>
          </a:xfrm>
          <a:prstGeom prst="ellipse">
            <a:avLst/>
          </a:prstGeom>
          <a:solidFill>
            <a:srgbClr val="8FB3C9"/>
          </a:solidFill>
          <a:ln/>
        </p:spPr>
      </p:sp>
      <p:sp>
        <p:nvSpPr>
          <p:cNvPr id="13" name="Text 11"/>
          <p:cNvSpPr/>
          <p:nvPr/>
        </p:nvSpPr>
        <p:spPr>
          <a:xfrm>
            <a:off x="3666744" y="272948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66744" y="331012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Disque 7,2 MRAD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666744" y="41148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torre de elevação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25896" y="33832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72784" y="2468880"/>
            <a:ext cx="2651760" cy="2377440"/>
          </a:xfrm>
          <a:prstGeom prst="roundRect">
            <a:avLst>
              <a:gd name="adj" fmla="val 3462"/>
            </a:avLst>
          </a:prstGeom>
          <a:solidFill>
            <a:srgbClr val="282D33"/>
          </a:solidFill>
          <a:ln/>
        </p:spPr>
      </p:sp>
      <p:sp>
        <p:nvSpPr>
          <p:cNvPr id="18" name="Shape 16"/>
          <p:cNvSpPr/>
          <p:nvPr/>
        </p:nvSpPr>
        <p:spPr>
          <a:xfrm>
            <a:off x="6528816" y="2743200"/>
            <a:ext cx="384048" cy="384048"/>
          </a:xfrm>
          <a:prstGeom prst="ellipse">
            <a:avLst/>
          </a:prstGeom>
          <a:solidFill>
            <a:srgbClr val="8FB3C9"/>
          </a:solidFill>
          <a:ln/>
        </p:spPr>
      </p:sp>
      <p:sp>
        <p:nvSpPr>
          <p:cNvPr id="19" name="Text 17"/>
          <p:cNvSpPr/>
          <p:nvPr/>
        </p:nvSpPr>
        <p:spPr>
          <a:xfrm>
            <a:off x="6528816" y="272948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28816" y="331012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 1,0 → 6,2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528816" y="41148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volte 0,2 → 6,0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87968" y="33832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134856" y="2468880"/>
            <a:ext cx="2651760" cy="2377440"/>
          </a:xfrm>
          <a:prstGeom prst="roundRect">
            <a:avLst>
              <a:gd name="adj" fmla="val 3462"/>
            </a:avLst>
          </a:prstGeom>
          <a:solidFill>
            <a:srgbClr val="31373E"/>
          </a:solidFill>
          <a:ln/>
        </p:spPr>
      </p:sp>
      <p:sp>
        <p:nvSpPr>
          <p:cNvPr id="24" name="Shape 22"/>
          <p:cNvSpPr/>
          <p:nvPr/>
        </p:nvSpPr>
        <p:spPr>
          <a:xfrm>
            <a:off x="9390888" y="2743200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5" name="Text 23"/>
          <p:cNvSpPr/>
          <p:nvPr/>
        </p:nvSpPr>
        <p:spPr>
          <a:xfrm>
            <a:off x="9390888" y="272948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90888" y="331012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6,0 MRAD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390888" y="41148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7,2 − 1,2, sem fazer conta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5257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Quebrar o fator em passos redondos (1,0 + 0,2) é mais confortável para o cérebro sob pressão do que subtrair 1,2 de uma vez. Descubra a decomposição que funciona para você.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STOP PRECISION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Retículo BDC instantâneo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luneta permite discar abaixo do zero (ou o zero stop permite), disque MENOS o fator: o retículo vira uma escala de distância dentro da janela útil.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6583680" cy="868680"/>
          </a:xfrm>
          <a:prstGeom prst="roundRect">
            <a:avLst>
              <a:gd name="adj" fmla="val 7368"/>
            </a:avLst>
          </a:prstGeom>
          <a:solidFill>
            <a:srgbClr val="282D3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89864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Disque −1,2 MRAD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611880" y="289864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abaixo do zero de 100 m (ex.: torre de 10 MRAD/volta em 8,8)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6583680" cy="868680"/>
          </a:xfrm>
          <a:prstGeom prst="roundRect">
            <a:avLst>
              <a:gd name="adj" fmla="val 7368"/>
            </a:avLst>
          </a:prstGeom>
          <a:solidFill>
            <a:srgbClr val="282D33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95020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a 480 m?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611880" y="39502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Segure 4,8 MRAD no retículo — a distância virou holdover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6583680" cy="868680"/>
          </a:xfrm>
          <a:prstGeom prst="roundRect">
            <a:avLst>
              <a:gd name="adj" fmla="val 7368"/>
            </a:avLst>
          </a:prstGeom>
          <a:solidFill>
            <a:srgbClr val="282D33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0017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a 600 m?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11880" y="500176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Segure 6,0 MRAD. Vale para toda a janela útil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464040" y="1737360"/>
            <a:ext cx="0" cy="4206240"/>
          </a:xfrm>
          <a:prstGeom prst="line">
            <a:avLst/>
          </a:prstGeom>
          <a:noFill/>
          <a:ln w="19050">
            <a:solidFill>
              <a:srgbClr val="EDEF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331720"/>
            <a:ext cx="2468880" cy="0"/>
          </a:xfrm>
          <a:prstGeom prst="line">
            <a:avLst/>
          </a:prstGeom>
          <a:noFill/>
          <a:ln w="19050">
            <a:solidFill>
              <a:srgbClr val="EDEF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36024" y="2898648"/>
            <a:ext cx="256032" cy="0"/>
          </a:xfrm>
          <a:prstGeom prst="line">
            <a:avLst/>
          </a:prstGeom>
          <a:noFill/>
          <a:ln w="15240">
            <a:solidFill>
              <a:srgbClr val="EDEF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02368" y="2770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MRAD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336024" y="3465576"/>
            <a:ext cx="256032" cy="0"/>
          </a:xfrm>
          <a:prstGeom prst="line">
            <a:avLst/>
          </a:prstGeom>
          <a:noFill/>
          <a:ln w="15240">
            <a:solidFill>
              <a:srgbClr val="EDEF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02368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MRAD  ·  200 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336024" y="4032504"/>
            <a:ext cx="256032" cy="0"/>
          </a:xfrm>
          <a:prstGeom prst="line">
            <a:avLst/>
          </a:prstGeom>
          <a:noFill/>
          <a:ln w="15240">
            <a:solidFill>
              <a:srgbClr val="EDEF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02368" y="3904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MRAD  ·  300 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336024" y="4599432"/>
            <a:ext cx="256032" cy="0"/>
          </a:xfrm>
          <a:prstGeom prst="line">
            <a:avLst/>
          </a:prstGeom>
          <a:noFill/>
          <a:ln w="15240">
            <a:solidFill>
              <a:srgbClr val="EDEF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02368" y="44714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MRAD  ·  400 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336024" y="5166360"/>
            <a:ext cx="256032" cy="0"/>
          </a:xfrm>
          <a:prstGeom prst="line">
            <a:avLst/>
          </a:prstGeom>
          <a:noFill/>
          <a:ln w="15240">
            <a:solidFill>
              <a:srgbClr val="EDEF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02368" y="50383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MRAD  ·  500 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336024" y="5733288"/>
            <a:ext cx="256032" cy="0"/>
          </a:xfrm>
          <a:prstGeom prst="line">
            <a:avLst/>
          </a:prstGeom>
          <a:noFill/>
          <a:ln w="15240">
            <a:solidFill>
              <a:srgbClr val="EDEF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02368" y="5605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MRAD  ·  600 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35240" y="6080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Retículo após o offset: cada marca de MRAD “aponta” uma distância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STOP PRECISION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Torre BDC (turret "escorregada")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282D3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299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Reindexe a torre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487168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arma zerada a 100 m, solte a torre e reindexe-a mostrando o valor do fator (1,2) em vez de 0.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282D33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20299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Disque a distância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487168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a 570 m → disque "5,7" na torre e use o cruzamento central, sem holdover.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282D3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416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Vantagem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4498848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com a stadia principal (melhor referência de vento) e discagem mais precisa que holdover.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384048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282D33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40416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6C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Cuidado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4498848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torre "mente" fora da janela útil. Adicione o offset de +1,2 MRAD no solver para os demais alvos.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mesmo princípio do retículo BDC, transferido do retículo para a torre.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STOP PRECISION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as condições ambientais?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3977640"/>
          </a:xfrm>
          <a:prstGeom prst="roundRect">
            <a:avLst>
              <a:gd name="adj" fmla="val 2299"/>
            </a:avLst>
          </a:prstGeom>
          <a:solidFill>
            <a:srgbClr val="282D3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574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B0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Dentro da janela, quase não importam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~800 m, a variação de densidade do ar (temperatura, pressão, altitude) move o impacto menos do que o erro que o método já aceita de projeto. O erro embutido "engole" o efeito ambiental — dentro da janela útil, pode ignorar.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498348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Mudou MUITO de altitude (ex.: nível do mar → 2.500 m)? Recalcule o fator por lá.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783080"/>
            <a:ext cx="5303520" cy="3977640"/>
          </a:xfrm>
          <a:prstGeom prst="roundRect">
            <a:avLst>
              <a:gd name="adj" fmla="val 2299"/>
            </a:avLst>
          </a:prstGeom>
          <a:solidFill>
            <a:srgbClr val="282D33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2057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FB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Alvos aquém da janela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675120" y="26060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Abaixo do início da janela a trajetória ainda não "entrou na reta". Memorize duas âncoras fixas do seu dope: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75120" y="3611880"/>
            <a:ext cx="4663440" cy="621792"/>
          </a:xfrm>
          <a:prstGeom prst="roundRect">
            <a:avLst>
              <a:gd name="adj" fmla="val 8824"/>
            </a:avLst>
          </a:prstGeom>
          <a:solidFill>
            <a:srgbClr val="31373E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3675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0" y="367588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0,8 MRAD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75120" y="4389120"/>
            <a:ext cx="4663440" cy="621792"/>
          </a:xfrm>
          <a:prstGeom prst="roundRect">
            <a:avLst>
              <a:gd name="adj" fmla="val 8824"/>
            </a:avLst>
          </a:prstGeom>
          <a:solidFill>
            <a:srgbClr val="31373E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445312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0" y="445312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1,7 MRAD (já perto da janela)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5257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do exemplo 6.5 CM — substitua pelos seus.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STOP PRECISION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método quebra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282D33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9110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6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funciona em MRAD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229514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mágica D/100 depende do miliradiano "conversar" com o sistema métrico. Em MOA a conta não fecha — não tente adaptar.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282D33"/>
          </a:solidFill>
          <a:ln/>
        </p:spPr>
      </p:sp>
      <p:sp>
        <p:nvSpPr>
          <p:cNvPr id="8" name="Text 6"/>
          <p:cNvSpPr/>
          <p:nvPr/>
        </p:nvSpPr>
        <p:spPr>
          <a:xfrm>
            <a:off x="6519672" y="19110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6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fator por conjunto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19672" y="229514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 + cano + munição + lote. Trocou projétil ou velocidade caiu 15 m/s? Recalcule.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282D33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3924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6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do telêmetro importa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4672" y="377647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 derivado em metros ≠ fator em jardas. O mesmo 6.5 CM que dá ~1,2 em metros dá ~2,5 em jardas. Nunca misture.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264408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282D33"/>
          </a:solidFill>
          <a:ln/>
        </p:spPr>
      </p:sp>
      <p:sp>
        <p:nvSpPr>
          <p:cNvPr id="14" name="Text 12"/>
          <p:cNvSpPr/>
          <p:nvPr/>
        </p:nvSpPr>
        <p:spPr>
          <a:xfrm>
            <a:off x="6519672" y="33924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6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da janela, erro cresce rápido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9672" y="377647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do fim da janela o projétil desacelera forte e a reta "descola" da curva. Ali, só solver ou dope.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745736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282D33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8737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6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resolve vento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52578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Elevação apenas. Deriva de vento continua sendo leitura + hold separado.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745736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282D33"/>
          </a:solidFill>
          <a:ln/>
        </p:spPr>
      </p:sp>
      <p:sp>
        <p:nvSpPr>
          <p:cNvPr id="20" name="Text 18"/>
          <p:cNvSpPr/>
          <p:nvPr/>
        </p:nvSpPr>
        <p:spPr>
          <a:xfrm>
            <a:off x="6519672" y="48737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6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é de projeto, não desculpa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19672" y="52578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Conheça o erro que você aceitou e o tamanho do alvo. Alvo pequeno na borda da janela? Use o dado exato.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STOP PRECISION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isso em habilidade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282D33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84832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71116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93852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Seco, em casa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89120" y="1938528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distâncias aleatórias → resolva em voz alta. Meta: &lt; 3 s por solução, zero erro.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195560" y="193852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07792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282D33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3163824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15010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17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pista, com papel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8912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 Speed Drop com o solver em cada distância. Anote o erro real do SEU conjunto.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195560" y="30175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sessão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86784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282D33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4242816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291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40965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pista, no aço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89120" y="4096512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Engajamentos 250–600 m só com o fator. Confirme impactos e registre desvios verticais.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195560" y="4096512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sessão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065776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282D33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" y="5321808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30809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08760" y="5175504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 relógio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89120" y="5175504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Simule estágio: distância anunciada, 5 s para dado + disparo. O fator vira reflexo.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195560" y="5175504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o fator só está "aprovado" depois de confirmado com impacto real em pelo menos três distâncias da janela.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STOP PRECISION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2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número. Uma subtração.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ED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janela conhecida.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320040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282D3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34670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Elevação = D/100 − Fator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378561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válida dentro da janela útil, em MRAD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320040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282D33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334670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Fator = D/100 − dope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378561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do SEU dado, escolha o erro, delimite a janela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282D3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71830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formas de usar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515721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mental · discar e voltar · retículo BDC · torre BDC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09360" y="457200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282D33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471830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Valide no aço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515721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distâncias confirmadas antes de confiar no número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Ted Hoeger (Jack Master), "Finding your Speed Drop Factor" — Sniper's Hide / Accuracy Dynamics, 2021 · Dope de exemplo: solver ponto-massa G7, ICAO.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2026-07-13T23:21:29Z</dcterms:created>
  <dcterms:modified xsi:type="dcterms:W3CDTF">2026-07-13T23:21:29Z</dcterms:modified>
</cp:coreProperties>
</file>